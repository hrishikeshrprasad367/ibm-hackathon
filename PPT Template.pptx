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0u2C9Q3RvDQHm3B8XesydCcMr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F7188DD-B256-4204-A37E-64E66C8A04EC}">
  <a:tblStyle styleId="{5F7188DD-B256-4204-A37E-64E66C8A04E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C252A695-06A6-40F3-94F1-56A7FA2A2AC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CECE7"/>
          </a:solidFill>
        </a:fill>
      </a:tcStyle>
    </a:wholeTbl>
    <a:band1H>
      <a:tcTxStyle/>
      <a:tcStyle>
        <a:fill>
          <a:solidFill>
            <a:srgbClr val="F8D6CC"/>
          </a:solidFill>
        </a:fill>
      </a:tcStyle>
    </a:band1H>
    <a:band2H>
      <a:tcTxStyle/>
    </a:band2H>
    <a:band1V>
      <a:tcTxStyle/>
      <a:tcStyle>
        <a:fill>
          <a:solidFill>
            <a:srgbClr val="F8D6CC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2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2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2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2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5.jpg"/><Relationship Id="rId6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hyperlink" Target="https://github.com/hrishikeshrprasad367/IBM-hackathon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fhwa.dot.gov/publications/research/operations/tft/" TargetMode="External"/><Relationship Id="rId4" Type="http://schemas.openxmlformats.org/officeDocument/2006/relationships/hyperlink" Target="https://www.ibm.com/docs/en/software-hub/5.1.x?topic=services-watsonxai" TargetMode="External"/><Relationship Id="rId5" Type="http://schemas.openxmlformats.org/officeDocument/2006/relationships/hyperlink" Target="https://docs.langflow.org/" TargetMode="External"/><Relationship Id="rId6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3"/>
          <p:cNvSpPr txBox="1"/>
          <p:nvPr>
            <p:ph type="title"/>
          </p:nvPr>
        </p:nvSpPr>
        <p:spPr>
          <a:xfrm>
            <a:off x="831850" y="581583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Agentic AI Hackathon: Building Intelligent Agents with IBM Granite and LangFlow</a:t>
            </a:r>
            <a:endParaRPr/>
          </a:p>
        </p:txBody>
      </p:sp>
      <p:sp>
        <p:nvSpPr>
          <p:cNvPr id="79" name="Google Shape;79;p33"/>
          <p:cNvSpPr txBox="1"/>
          <p:nvPr>
            <p:ph idx="1" type="body"/>
          </p:nvPr>
        </p:nvSpPr>
        <p:spPr>
          <a:xfrm>
            <a:off x="996480" y="38489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b="1" lang="en-US">
                <a:solidFill>
                  <a:srgbClr val="FF0000"/>
                </a:solidFill>
              </a:rPr>
              <a:t>Project Title</a:t>
            </a:r>
            <a:r>
              <a:rPr b="1" i="1" lang="en-US">
                <a:solidFill>
                  <a:srgbClr val="FF0000"/>
                </a:solidFill>
              </a:rPr>
              <a:t>:  </a:t>
            </a:r>
            <a:r>
              <a:rPr b="1" lang="en-US">
                <a:solidFill>
                  <a:srgbClr val="FF0000"/>
                </a:solidFill>
              </a:rPr>
              <a:t>X-Traffic: Explainable Agentic Congestion Intelligence</a:t>
            </a:r>
            <a:endParaRPr/>
          </a:p>
          <a:p>
            <a:pPr indent="-2286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/>
          </a:p>
          <a:p>
            <a:pPr indent="-2286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i="1"/>
          </a:p>
        </p:txBody>
      </p:sp>
      <p:pic>
        <p:nvPicPr>
          <p:cNvPr id="80" name="Google Shape;8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2322778" y="126279"/>
            <a:ext cx="73017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team: clanker_wanker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"/>
          <p:cNvSpPr txBox="1"/>
          <p:nvPr/>
        </p:nvSpPr>
        <p:spPr>
          <a:xfrm>
            <a:off x="2093291" y="596977"/>
            <a:ext cx="74265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 of Team members</a:t>
            </a:r>
            <a:endParaRPr b="1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8" name="Google Shape;88;p2"/>
          <p:cNvGraphicFramePr/>
          <p:nvPr/>
        </p:nvGraphicFramePr>
        <p:xfrm>
          <a:off x="1397039" y="1134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{5F7188DD-B256-4204-A37E-64E66C8A04EC}</a:tableStyleId>
              </a:tblPr>
              <a:tblGrid>
                <a:gridCol w="1665225"/>
                <a:gridCol w="1970475"/>
                <a:gridCol w="2682425"/>
                <a:gridCol w="2605550"/>
              </a:tblGrid>
              <a:tr h="80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TEAM MEMBER NAME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Recent Passport Photo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Email ID 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number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[WhatsApp] 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</a:tr>
              <a:tr h="131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Suraj 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surajb.cd23@bmsce.ac.in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8904712029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</a:tr>
              <a:tr h="133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Hrishikesh R Prasad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hrishikeshr.cs23@bmsce.ac.in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7892100520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FF7"/>
                    </a:solidFill>
                  </a:tcPr>
                </a:tc>
              </a:tr>
              <a:tr h="1319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Shashank U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shashanku.cs23@bmsce.ac.in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9481441318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2" title="Hrishikesh_Imag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1475" y="3567700"/>
            <a:ext cx="942456" cy="1056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" title="shashanku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29525" y="4844675"/>
            <a:ext cx="1054395" cy="1182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2" title="e9d49ae5495b4005c07e6777c436e7fc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41478" y="2148075"/>
            <a:ext cx="942449" cy="1056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4"/>
          <p:cNvSpPr txBox="1"/>
          <p:nvPr/>
        </p:nvSpPr>
        <p:spPr>
          <a:xfrm>
            <a:off x="1266788" y="3489469"/>
            <a:ext cx="76169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4"/>
          <p:cNvSpPr txBox="1"/>
          <p:nvPr/>
        </p:nvSpPr>
        <p:spPr>
          <a:xfrm>
            <a:off x="4266011" y="546012"/>
            <a:ext cx="322683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 </a:t>
            </a:r>
            <a:endParaRPr/>
          </a:p>
        </p:txBody>
      </p:sp>
      <p:pic>
        <p:nvPicPr>
          <p:cNvPr id="99" name="Google Shape;9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4"/>
          <p:cNvSpPr/>
          <p:nvPr/>
        </p:nvSpPr>
        <p:spPr>
          <a:xfrm>
            <a:off x="742075" y="1551563"/>
            <a:ext cx="10274710" cy="37548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     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Trust Gap in Traffic Management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State: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Traffic operators receive automated congestion alerts from hundreds of road segments daily.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Gap: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Current systems detect </a:t>
            </a: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congestion is occurring but fail to explain </a:t>
            </a: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it is happening.</a:t>
            </a:r>
            <a:endParaRPr/>
          </a:p>
          <a:p>
            <a:pPr indent="-158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Consequence: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This lack of causal explanation limits operator trust and hinders effective decision-making.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Goal: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shift from reactive monitoring to informed action through explainable AI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t/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1005840" y="1584102"/>
            <a:ext cx="10055450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X-Traffic: Explainable Agentic Congestion Intelligence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propose a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multi-agent AI system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where each agent performs a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well-defined cognitive role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mirroring how a human traffic expert reasons.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 Responsibilities: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 1: Traffic Data Analysis Agent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Observes traffic metrics (speed, volume, time, weather) and classifies congestion state.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 2: Congestion Cause Analysis Agent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Correlates congestion patterns with contextual factors such as peak hour, weather, and incidents.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 3: Explainable Insight Assistant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Generates clear, human-readable explanations supported by traffic engineering theory.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This separation ensures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transparent, auditable reasoning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instead of black-box outputs.</a:t>
            </a:r>
            <a:endParaRPr/>
          </a:p>
        </p:txBody>
      </p:sp>
      <p:sp>
        <p:nvSpPr>
          <p:cNvPr id="107" name="Google Shape;107;p4"/>
          <p:cNvSpPr txBox="1"/>
          <p:nvPr/>
        </p:nvSpPr>
        <p:spPr>
          <a:xfrm>
            <a:off x="893255" y="741143"/>
            <a:ext cx="45391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solution </a:t>
            </a:r>
            <a:endParaRPr/>
          </a:p>
        </p:txBody>
      </p:sp>
      <p:pic>
        <p:nvPicPr>
          <p:cNvPr id="108" name="Google Shape;10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5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t/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35"/>
          <p:cNvSpPr txBox="1"/>
          <p:nvPr/>
        </p:nvSpPr>
        <p:spPr>
          <a:xfrm>
            <a:off x="1005840" y="1584102"/>
            <a:ext cx="10268712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Urban traffic congestion causes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economic loss, fuel wastage, and delays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Operators need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reasoned insights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not raw alerts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Trust in AI systems depends on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interpretability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Government and city planners require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explainable analytics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policy decisions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Aligns with smart-city and intelligent transport initiatives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Infrastructure decisions involve public safety. Operators need a traceable decision trail, not a black box system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This project converts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reactive monitoring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into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informed action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5"/>
          <p:cNvSpPr txBox="1"/>
          <p:nvPr/>
        </p:nvSpPr>
        <p:spPr>
          <a:xfrm>
            <a:off x="1034441" y="524940"/>
            <a:ext cx="54964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Need of project </a:t>
            </a:r>
            <a:endParaRPr/>
          </a:p>
        </p:txBody>
      </p:sp>
      <p:pic>
        <p:nvPicPr>
          <p:cNvPr id="116" name="Google Shape;11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6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t/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36"/>
          <p:cNvSpPr txBox="1"/>
          <p:nvPr/>
        </p:nvSpPr>
        <p:spPr>
          <a:xfrm>
            <a:off x="961644" y="1664419"/>
            <a:ext cx="10268712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Primary Users: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Traffic Control Centers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City Transportation Departments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Highway Operations Authorities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Secondary Users: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Urban Planning Agencies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Emergency Response Teams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Smart-City Governance Bodies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Indirect Beneficiaries: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Daily commuters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Logistics and transport services</a:t>
            </a:r>
            <a:endParaRPr/>
          </a:p>
        </p:txBody>
      </p:sp>
      <p:sp>
        <p:nvSpPr>
          <p:cNvPr id="123" name="Google Shape;123;p36"/>
          <p:cNvSpPr txBox="1"/>
          <p:nvPr/>
        </p:nvSpPr>
        <p:spPr>
          <a:xfrm>
            <a:off x="1034441" y="524940"/>
            <a:ext cx="54964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 user of project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7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Technology Used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7"/>
          <p:cNvSpPr txBox="1"/>
          <p:nvPr/>
        </p:nvSpPr>
        <p:spPr>
          <a:xfrm>
            <a:off x="777240" y="1207008"/>
            <a:ext cx="10515600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Platform &amp; Infrastructure: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Cloud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watsonx.ai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 Orchestration: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LangFlow platform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Model: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Granite Model :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ibm-granite-3-2-8b-instruct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Explainability Framework: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RAG (Retrieval Augmented Generation)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Traffic engineering literature (FHWA)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/>
          <p:nvPr/>
        </p:nvSpPr>
        <p:spPr>
          <a:xfrm>
            <a:off x="3312995" y="868884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i="0" lang="en-US" sz="3500" u="none" cap="none" strike="noStrik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 and Uniqueness</a:t>
            </a:r>
            <a:endParaRPr b="1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7" name="Google Shape;1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8" name="Google Shape;138;p18"/>
          <p:cNvGraphicFramePr/>
          <p:nvPr/>
        </p:nvGraphicFramePr>
        <p:xfrm>
          <a:off x="1904181" y="21846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{C252A695-06A6-40F3-94F1-56A7FA2A2AC2}</a:tableStyleId>
              </a:tblPr>
              <a:tblGrid>
                <a:gridCol w="4064000"/>
                <a:gridCol w="4064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Traditional Traffic AI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X-Traffic System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Detects congestion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Detects as well as explains congestion causes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Acts as a Single black-box model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Functions as a Multi-agent reasoning system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It doesn’t provide any justification for congestion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Provides comprehensive literature-backed explanations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Use case: Alert-only systems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Use case: Intelligent and Actionable recommendation system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/>
          <p:nvPr/>
        </p:nvSpPr>
        <p:spPr>
          <a:xfrm>
            <a:off x="1003545" y="364352"/>
            <a:ext cx="8207828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Technical flow diagram - Architecture blueprint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78376"/>
            <a:ext cx="11887198" cy="4863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8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51D3A"/>
                </a:solidFill>
                <a:latin typeface="Arial"/>
                <a:ea typeface="Arial"/>
                <a:cs typeface="Arial"/>
                <a:sym typeface="Arial"/>
              </a:rPr>
              <a:t>Langflow component Used 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8"/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38"/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38"/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38"/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38"/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38"/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38"/>
          <p:cNvSpPr txBox="1"/>
          <p:nvPr/>
        </p:nvSpPr>
        <p:spPr>
          <a:xfrm>
            <a:off x="537590" y="931703"/>
            <a:ext cx="8823960" cy="624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Chat Input: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Accepts natural-language operator queries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“Analyze traffic for NH48 at 08:30”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IBM watsonx AI Agent: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Executes reasoning tasks using IBM Granite model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agent has a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distinct system prompt and role\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File Component: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Loads structured traffic data (CSV)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Loads traffic literature (PDF)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Retriever (RAG Component):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Retrieves relevant theory passages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Supplies contextual grounding to Agent 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Chat Output: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Displays final, human-readable explanations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9"/>
          <p:cNvSpPr txBox="1"/>
          <p:nvPr/>
        </p:nvSpPr>
        <p:spPr>
          <a:xfrm>
            <a:off x="838779" y="200739"/>
            <a:ext cx="468406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Screenshot 1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814804"/>
            <a:ext cx="11887201" cy="53117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0"/>
          <p:cNvSpPr txBox="1"/>
          <p:nvPr/>
        </p:nvSpPr>
        <p:spPr>
          <a:xfrm>
            <a:off x="1065320" y="138955"/>
            <a:ext cx="54666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Screenshot 2</a:t>
            </a:r>
            <a:endParaRPr/>
          </a:p>
        </p:txBody>
      </p:sp>
      <p:pic>
        <p:nvPicPr>
          <p:cNvPr id="171" name="Google Shape;17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753020"/>
            <a:ext cx="11887202" cy="5232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1"/>
          <p:cNvSpPr txBox="1"/>
          <p:nvPr/>
        </p:nvSpPr>
        <p:spPr>
          <a:xfrm>
            <a:off x="1065320" y="138955"/>
            <a:ext cx="526071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Screenshot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5550" y="723945"/>
            <a:ext cx="10897993" cy="5410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2"/>
          <p:cNvSpPr txBox="1"/>
          <p:nvPr/>
        </p:nvSpPr>
        <p:spPr>
          <a:xfrm>
            <a:off x="1219779" y="200739"/>
            <a:ext cx="46222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Screenshot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0450" y="814800"/>
            <a:ext cx="5951099" cy="534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3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i="0" lang="en-US" sz="3500" u="none" cap="none" strike="noStrik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 </a:t>
            </a:r>
            <a:endParaRPr b="1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43"/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2B3541"/>
                </a:solidFill>
                <a:latin typeface="Arial"/>
                <a:ea typeface="Arial"/>
                <a:cs typeface="Arial"/>
                <a:sym typeface="Arial"/>
              </a:rPr>
              <a:t>Some of the notable future scope of the project includes:</a:t>
            </a:r>
            <a:endParaRPr/>
          </a:p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/>
              <a:buChar char="•"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traffic sensor API integration</a:t>
            </a:r>
            <a:endParaRPr/>
          </a:p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Predictive congestion forecasting</a:t>
            </a:r>
            <a:endParaRPr/>
          </a:p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Expanded causal factors (events, construction, signal timing)</a:t>
            </a:r>
            <a:endParaRPr/>
          </a:p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Multi-city scalability</a:t>
            </a:r>
            <a:endParaRPr/>
          </a:p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Operator feedback loop for continuous learning</a:t>
            </a:r>
            <a:endParaRPr/>
          </a:p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Integration with smart traffic dashboards</a:t>
            </a:r>
            <a:endParaRPr/>
          </a:p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Integration with government traffic APIs and city-scale deployments</a:t>
            </a:r>
            <a:endParaRPr b="0" i="0" sz="1850" u="none" cap="none" strike="noStrike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43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43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43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6" name="Google Shape;19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4"/>
          <p:cNvSpPr/>
          <p:nvPr/>
        </p:nvSpPr>
        <p:spPr>
          <a:xfrm>
            <a:off x="4052816" y="68993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i="0" lang="en-US" sz="3500" u="none" cap="none" strike="noStrik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Hub Link</a:t>
            </a:r>
            <a:endParaRPr b="1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44"/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50" u="none" cap="none" strike="noStrike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t/>
            </a:r>
            <a:endParaRPr b="0" i="0" sz="1850" u="none" cap="none" strike="noStrike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44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44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44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6" name="Google Shape;20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44"/>
          <p:cNvSpPr txBox="1"/>
          <p:nvPr/>
        </p:nvSpPr>
        <p:spPr>
          <a:xfrm>
            <a:off x="1120876" y="2715647"/>
            <a:ext cx="103730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Repository link: </a:t>
            </a:r>
            <a:r>
              <a:rPr b="0" i="0" lang="en-US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https://github.com/hrishikeshrprasad367/IBM-hackathon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5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5"/>
          <p:cNvSpPr/>
          <p:nvPr/>
        </p:nvSpPr>
        <p:spPr>
          <a:xfrm>
            <a:off x="859944" y="1626526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Federal Highway Administration (FHWA) – Traffic Flow Theory : </a:t>
            </a:r>
            <a:r>
              <a:rPr b="0" i="0" lang="en-US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watsonx.ai Documentation: </a:t>
            </a:r>
            <a:r>
              <a:rPr b="0" i="0" lang="en-US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LangFlow Documentation: </a:t>
            </a:r>
            <a:r>
              <a:rPr b="0" i="0" lang="en-US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Agentic AI Hackathon Guidelines</a:t>
            </a:r>
            <a:endParaRPr b="0" i="0" sz="1800" u="none" cap="none" strike="noStrike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t/>
            </a:r>
            <a:endParaRPr b="0" i="0" sz="1850" u="none" cap="none" strike="noStrike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45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45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45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7" name="Google Shape;217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2025-07-08T05:06:56Z</dcterms:created>
  <dc:creator>Manda Anirudh</dc:creator>
</cp:coreProperties>
</file>